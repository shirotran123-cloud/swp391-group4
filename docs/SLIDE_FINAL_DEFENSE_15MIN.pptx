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1005840"/>
          </a:xfrm>
          <a:prstGeom prst="rect">
            <a:avLst/>
          </a:prstGeom>
          <a:solidFill>
            <a:srgbClr val="131E32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6304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SLIDE 1/12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CHẤM MÃ NGUỒN TỰ ĐỘNG &amp; LIÊM CHÍNH HỌC THUẬT AITA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8686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BẢO VỆ ĐỒ ÁN TỐT NGHIỆP (FINAL DEFENSE - 15 PHÚT)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Đơn vị đào tạo: Bộ môn Kỹ thuật Phần mềm (Software Engineering) — Đại học FPT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phần: SWP391 - Đồ án Phát triển Phần mềm (Chuẩn RBL 10 Tuần)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hướng dẫn: ThS. Đinh Thành Trung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Đội ngũ thực hiện (Group 4):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1. Đinh Thành Trung (Leader, System Architect &amp; DevOps Lead)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2. Trần Công Tiến (Backend Core &amp; Sandbox Security Engineer)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3. Nguyễn Hoàng Vinh (GenAI Specialist &amp; Database Architect)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4. Văn Thái Trung (Algorithm Specialist &amp; Plagiarism Engine Lead)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5. Trần Thành Nguyên (Frontend Lead &amp; Tác giả chính Bài báo IEEE)
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1005840"/>
          </a:xfrm>
          <a:prstGeom prst="rect">
            <a:avLst/>
          </a:prstGeom>
          <a:solidFill>
            <a:srgbClr val="131E32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6304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SLIDE 2/12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BỔ THỜI GIAN THUYẾT TRÌNH CHO 5 THÀNH VIÊN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8686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Chiến thuật 15 Phút chính thức + 15 Phút Hỏi - Đáp (Q&amp;A)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 – 02:30 (Thành viên 1 - Team Leader): Bối cảnh nghiên cứu, Nhu cầu thực tiễn &amp; Kiến trúc tổng thể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02:30 – 05:00 (Thành viên 2 - Backend/Sandbox): Docker Sandbox an toàn, Chống tấn công TLE, MLE, Fork-bomb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05:00 – 07:30 (Thành viên 3 - GenAI Specialist): Tích hợp GenAI chấm Clean Code, SOLID &amp; Barem điểm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07:30 – 10:30 (Thành viên 4 - Algorithm Specialist): Thuật toán AST-Winnowing, Thực nghiệm 10 cặp ngụy trang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10:30 – 13:30 (Thành viên 5 - Frontend Lead): Trải nghiệm UI/UX, Đóng góp Bài báo IEEE &amp; Chứng minh SLA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13:30 – 15:00 (Cả nhóm): Tổng kết dự án, Bài học kinh nghiệm &amp; Chuyển sang phiên Q&amp;A Hội đồng
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1005840"/>
          </a:xfrm>
          <a:prstGeom prst="rect">
            <a:avLst/>
          </a:prstGeom>
          <a:solidFill>
            <a:srgbClr val="131E32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6304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SLIDE 3/12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BỐI CẢNH NGHIÊN CỨU &amp; THỰC TRẠNG GIAN LẬN THỜI KỲ GENAI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8686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Thách thức mới trước sự bùng nổ của ChatGPT-4o, Copilot, Claude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trạng cấp bách: Sinh viên dễ dàng ngụy trang code sao chép chỉ với một câu prompt: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Đổi tên toàn bộ biến &amp; hàm, đảo ngược vòng lặp (for &lt;-&gt; while).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Chèn mã rác (Dead Code), đảo cấu trúc if-else, tách/gộp hàm con.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công cụ cũ: MOSS, JPlag, Text-Diff truyền thống hoàn toàn bất lực trước mã ngụy trang GenAI.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cốt lõi của AITA-Intelligent: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Thực thi cách ly an toàn 100% trong Docker Sandbox cho đa ngôn ngữ (C++, Java, Python, C#).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Đánh giá chất lượng 2 tầng: Tầng 1 (Testcases), Tầng 2 (AST + GenAI chấm SOLID/Clean Code).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Nguyên tắc vàng Liêm chính học thuật: ZERO FALSE ACCUSATIONS (Độ chính xác 100%, không vu khống).
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1005840"/>
          </a:xfrm>
          <a:prstGeom prst="rect">
            <a:avLst/>
          </a:prstGeom>
          <a:solidFill>
            <a:srgbClr val="131E32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6304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SLIDE 4/12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TỔNG THỂ HỆ THỐNG AITA-INTELLIGENT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8686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 Microservices hướng sự kiện (Event-Driven Architecture)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Layer: React 18 + Vite (Giao diện Sinh viên, Giảng viên, Quản trị viên, Responsive mobile).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&amp; Auth: NestJS + JWT / Google OAuth2 SSO + 13 Bảng chuẩn 3NF PostgreSQL.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đợi Bất đồng bộ: Redis + BullMQ (Chịu tải cao, cơ chế DLQ tự động retry khi gặp sự cố).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Sandbox Engine: gcc:13, openjdk:17, python:3.11, dotnet:8 (Cô lập RAM 512MB, Watchdog 2.0s).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&amp; Integrity Hub: Gemini 2.5 Flash Lite + Bộ phân tích cú pháp AST Normalizer &amp; Winnowing.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dữ liệu Realtime: Phản hồi tiếp nhận 202 trong 45ms, đẩy tiến trình chấm qua WebSocket Socket.IO.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1005840"/>
          </a:xfrm>
          <a:prstGeom prst="rect">
            <a:avLst/>
          </a:prstGeom>
          <a:solidFill>
            <a:srgbClr val="131E32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6304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SLIDE 5/12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DOCKER SANDBOX AN TOÀN &amp; DEFENSE-IN-DEPTH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8686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Rào chắn vật lý bảo vệ máy chủ hạ tầng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Tách biệt Mạng hoàn toàn (--network none): Sinh viên không thể tải payload độc hại hay rò rỉ dữ liệu.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Áp trần Tài nguyên cực đại: Giới hạn RAM cứng 512MB, CPU Watchdog timer ngắt sau đúng 2.0s (TLE/MLE).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Ngăn chặn triệt để Fork-Bomb (--pids-limit 64): Đánh chặn mọi tiến trình con vô hạn gây cạn kiệt tài nguyên.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Phân vùng Đọc-Ghi Tạm thời (Ephemeral Bind Mount): Chỉ cấp quyền ghi vào thư mục tạm, tự xóa sau 1.0s.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chế Circuit Breaker Fallback: Tự động chuyển vùng an toàn khi Docker Daemon khởi động lại, bảo toàn SLA.
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1005840"/>
          </a:xfrm>
          <a:prstGeom prst="rect">
            <a:avLst/>
          </a:prstGeom>
          <a:solidFill>
            <a:srgbClr val="131E32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6304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SLIDE 6/12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THUẬT AST-NORMALIZED WINNOWING &amp; BAREM ĐẠO VĂN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8686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 trình 4 bước triệt tiêu mã nguồn ngụy trang tinh vi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1 - Chuẩn hóa AST: Phân tích cú pháp trừu tượng, loại bỏ toàn bộ khoảng trắng, định dạng và comment.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2 - Canonical Mapping: Ánh xạ toàn bộ định danh về biến tổng quát (VAR_1, VAR_2, FUNC_1, LITERAL).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3 - Băm Winnowing: Cửa sổ trượt w=10, k=15 băm trích xuất tập chữ ký số đại diện (Fingerprints).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4 - Ensemble Similarity: Kết hợp 65% Containment Jaccard + 35% Phân phối từ khóa AST Cosine.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Dải phân loại học thuật chuẩn: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 &lt; 40% (CLEAN): Mã nguồn độc lập, tự động thông qua.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- 40% &lt;= S &lt; 70% (SUSPECTED): Nghi vấn; cảnh báo giảng viên thẩm định trực quan.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 &gt;= 70% (FLAGGED): Gắn cờ gian lận, chuyển Hội đồng chuyên môn xử lý.
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1005840"/>
          </a:xfrm>
          <a:prstGeom prst="rect">
            <a:avLst/>
          </a:prstGeom>
          <a:solidFill>
            <a:srgbClr val="131E32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6304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SLIDE 7/12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THỰC NGHIỆM ĐỐI SOÁT 10 CẶP MÃ NGUỒN NGỤY TRANG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8686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chứng khoa học trên tập dữ liệu RBL Benchmark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01 (Đổi tên toàn bộ biến &amp; hàm): Điểm AITA 100.00% -&gt; GẮN CỜ (Bắt trúng tuyệt đối).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02 (Đảo vòng lặp for &lt;-&gt; while): Điểm AITA 85.26% -&gt; GẮN CỜ (Bắt trúng).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03 (Chèn Dead Code &amp; Comment rác): Điểm AITA 83.49% -&gt; GẮN CỜ (Bắt trúng).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04 (Tách hàm con &amp; Inlining): Điểm AITA 78.99% -&gt; GẮN CỜ (Bắt trúng).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05 (Đảo nhánh điều kiện if-else): Điểm AITA 100.00% -&gt; GẮN CỜ (Bắt trúng).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08 (ChatGPT-4o viết lại cấu trúc): Điểm AITA 74.39% -&gt; GẮN CỜ (Bắt trúng).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09 (Ngụy trang hỗn hợp đa tầng): Điểm AITA 54.07% -&gt; Dải Nghi vấn (Chuyển GV thẩm định an toàn).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10 (Mẫu đối chứng MergeSort vs QuickSort): Điểm AITA 51.97% -&gt; KHÔNG CỜ (Không vu khống).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số đo lường toàn diện: Độ chính xác 90.00% | Precision 100% (Zero FP) | Recall 88.89%.
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1005840"/>
          </a:xfrm>
          <a:prstGeom prst="rect">
            <a:avLst/>
          </a:prstGeom>
          <a:solidFill>
            <a:srgbClr val="131E32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6304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SLIDE 8/12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THỰC NGHIỆM VỚI TREE EDIT DISTANCE (TED)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8686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Giải bài toán cân bằng giữa Độ chính xác và Tốc độ xử lý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chế của TED (Zhang-Shasha): Độ phức tạp O(N^3) đến O(N^4), tiêu tốn từ 1.5s - 4.5s cho mỗi bài nộp.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Khả năng đánh chỉ mục: Winnowing hỗ trợ lập chỉ mục B-Tree Index trên PostgreSQL, tra cứu 1-nhiều cực nhanh.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Hiệu năng đột phá của AITA: Xử lý 947 dòng code (2,625 tokens) chỉ mất 12.0 ms (SLA quy định &lt; 200 ms).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Kiến trúc Lai (Two-Tier Hybrid Engine):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Tầng 1 (AST Winnowing): Sàng lọc nhanh 95% bài thi trong vòng 12 ms.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Tầng 2 (TED): Kích hoạt không đồng bộ đối với dải Nghi vấn (40% - 70%) nhằm thẩm định chuyên sâu.
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1005840"/>
          </a:xfrm>
          <a:prstGeom prst="rect">
            <a:avLst/>
          </a:prstGeom>
          <a:solidFill>
            <a:srgbClr val="131E32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6304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SLIDE 9/12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CHẤT LƯỢNG MÃ NGUỒN GENAI (SOLID &amp; CLEAN CODE)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8686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hóa chấm kiến trúc và phong cách lập trình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Barem Điểm 4 Thành Phần Chuẩn Hóa: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Tổng Điểm (10đ) = Testcases (7.0đ) + Clean Code (2.0đ) + Kiến trúc SOLID (1.0đ).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5 nguyên lý SOLID qua Gemini 2.5 Flash Lite: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 (Single Responsibility): Nhận diện hàm ôm đồm vừa tính toán vừa ghi file/màn hình.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O (Open/Closed): Khuyến khích mở rộng qua Generic/Kế thừa thay vì chuỗi if-else dài.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L (Liskov Substitution): Bảo đảm lớp con không làm thay đổi ngữ nghĩa logic của lớp cha.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I (Interface Segregation): Khuyến khích chia nhỏ interface chuyên biệt.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D (Dependency Inversion): Khuyến khích phụ thuộc vào Abstraction (Interface ISorter).
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1005840"/>
          </a:xfrm>
          <a:prstGeom prst="rect">
            <a:avLst/>
          </a:prstGeom>
          <a:solidFill>
            <a:srgbClr val="131E32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6304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SLIDE 10/12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TẢI HỆ THỐNG &amp; ĐO ĐẠC ĐÓNG GÓP NHÓM (GIT ANALYTICS)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8686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Chứng minh tính ổn định cao và chống gian lận nội bộ nhóm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tải Hàng đợi BullMQ (Stress Test):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Giả lập 100 bài nộp đồng thời; p95 latency đạt 45 ms (Vượt xa chuẩn SLA &lt; 200 ms).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- 100% bài nộp được xử lý tuần tự an toàn, không có hiện tượng mất mát dữ liệu.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đóng góp nhóm minh bạch (Git Analytics Parser thật - UC-12):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Bóc tách dữ liệu git log trực tiếp từ repository dự án.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Thống kê chính xác số commit, số dòng thêm/xóa của từng bạn sinh viên.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Tự động gắn cờ Free-Rider nếu thành viên có tỷ lệ đóng góp &lt; 10% để bảo vệ công bằng.
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1005840"/>
          </a:xfrm>
          <a:prstGeom prst="rect">
            <a:avLst/>
          </a:prstGeom>
          <a:solidFill>
            <a:srgbClr val="131E32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6304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SLIDE 11/12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ĐÓNG GÓP KHOA HỌC &amp; BÀI BÁO CHUẨN IEEE RBL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8686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Thành quả nghiên cứu học thuật của Group 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báo Khoa học chuẩn IEEE (6 - 8 trang):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'A Comparative Study of AST-Based Winnowing and Tree Edit Distance in Detecting GenAI-Obfuscated Source Code'.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trúc học thuật hoàn chỉnh: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Abstract, Index Terms chuẩn IEEE Proceedings.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Mô hình toán học Ensemble Similarity và phân tích biên của giải thuật Winnowing.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Bảng thực nghiệm 10 cặp mã nguồn ngụy trang phức tạp.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Biện luận lý do giữ ngưỡng tau &gt;= 70.0% để tránh False Positive đối với MergeSort &amp; QuickSort.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Đã xuất bản định dạng PDF và HTML sẵn sàng phục vụ Hội đồng nghiệm thu.
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1247120" cy="1005840"/>
          </a:xfrm>
          <a:prstGeom prst="rect">
            <a:avLst/>
          </a:prstGeom>
          <a:solidFill>
            <a:srgbClr val="131E32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46304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SLIDE 12/12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03120" y="411480"/>
            <a:ext cx="9326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KẾT, BÀI HỌC KINH NGHIỆM &amp; PHIÊN HỎI - ĐÁP (Q&amp;A)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868680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Sẵn sàng bảo vệ đồ án tốt nghiệp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106984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trị thu hoạch sau 10 tuần thực hiện đồ án RBL: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Làm chủ kiến trúc Microservices hiện đại (NestJS + Redis BullMQ + Docker Engine).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Ứng dụng thành công lý thuyết Cây Cú Pháp Trừu Tượng (AST) vào bài toán liêm chính học thuật thực tế.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Giao diện người dùng chuyên nghiệp, hỗ trợ đa nền tảng (Desktop &amp; Mobile Responsive).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4 xin trân trọng cảm ơn Quý Thầy/Cô trong Hội đồng chấm thi!
</a:t>
            </a:r>
            <a:endParaRPr lang="en-US" sz="14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KÍNH MỜI HỘI ĐỒNG ĐẶT CÂU HỎI PHẢN BIỆN.
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2026-10-29T04:16:20Z</dcterms:created>
  <dcterms:modified xsi:type="dcterms:W3CDTF">2026-10-29T04:16:20Z</dcterms:modified>
</cp:coreProperties>
</file>